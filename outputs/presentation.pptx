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LEARNING-BASED DEFECT CLASSIFICATION</a:t>
            </a:r>
          </a:p>
          <a:p>
            <a:pPr>
              <a:spcBef>
                <a:spcPts val="1200"/>
              </a:spcBef>
              <a:defRPr sz="1800">
                <a:solidFill>
                  <a:srgbClr val="00A896"/>
                </a:solidFill>
              </a:defRPr>
            </a:pPr>
            <a:r>
              <a:t>Using Simulated Metrology Data for Semiconductor Quality &amp; Yield Assurance</a:t>
            </a:r>
          </a:p>
          <a:p>
            <a:pPr>
              <a:spcBef>
                <a:spcPts val="800"/>
              </a:spcBef>
              <a:defRPr sz="1400">
                <a:solidFill>
                  <a:srgbClr val="CED4DA"/>
                </a:solidFill>
              </a:defRPr>
            </a:pPr>
            <a:r>
              <a:t>Bridging Cleanroom Fabrication (CeNSE, IISc) with Intelligent Metrology Modeling</a:t>
            </a:r>
          </a:p>
          <a:p>
            <a:pPr>
              <a:spcBef>
                <a:spcPts val="2800"/>
              </a:spcBef>
              <a:defRPr sz="1200">
                <a:solidFill>
                  <a:srgbClr val="ADB5BD"/>
                </a:solidFill>
              </a:defRPr>
            </a:pPr>
            <a:r>
              <a:t>Key Focus Areas: Ellipsometry • AFM Surface Topography • 4-Point Probe • Multi-Model Classifier Zoo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SEMICONDUCTOR METROLOGY DEFECT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Problem Statement: Automated In-Line Fab Defect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1C2"/>
                </a:solidFill>
              </a:defRPr>
            </a:pPr>
            <a:r>
              <a:t>Why Automated Metrology Classification is Critical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• Cleanroom Excursion Costs: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Process drift in thin-film deposition, lithography, or plasma etching ruins entire wafer lots if not caught early.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• Manual FA Bottleneck: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Cross-sectional SEM / TEM failure analysis is destructive, expensive, and takes days to execute.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• Multi-Modal Opportunity: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Fab metrology tools (Ellipsometer, AFM, 4-Point Probe) capture rich non-destructive physical signatures.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• Project Objective: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Build an ML classification engine that ingests multi-modal metrology data to diagnose fab failure root causes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1C2"/>
                </a:solidFill>
              </a:defRPr>
            </a:pPr>
            <a:r>
              <a:t>Target Semiconductor Defect Taxonomies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- 0. Nominal Pass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Baseline die within statistical process control limits.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- 1. Under-Etch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Incomplete plasma etch; residual film thickness offset.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- 2. Over-Etch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Excessive RF power; substrate pitting damage &amp; thinning.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- 3. Particulate Contamination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Cleanroom dust / chamber flaking; extreme AFM Rz spikes.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- 4. Litho Defocus / Bridging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Stepper optical focal drift; CD expansion &amp; line micro-bridging.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- 5. CMP Microscratch / Void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Slurry particle gouging; severe negative surface skewness.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- 6. Incomplete Deposition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 Precursor starvation / non-uniformity; sub-target thickness &amp; high 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SEMICONDUCTOR METROLOGY DEFECT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Physics-Informed Metrology Simulation &amp; Wafer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1C2"/>
                </a:solidFill>
              </a:defRPr>
            </a:pPr>
            <a:r>
              <a:t>Characterization Modalities Modeled (CeNSE MNCF)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Spectroscopic Ellipsometry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 Film thickness (t), refractive index (n), extinction coefficient (k), optical phase shift (Δ), UV/VIS reflectance balance.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AFM Surface Topography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 Surface average roughness (Ra), RMS (Rq), peak-to-valley (Rz), height skewness (Ssk), kurtosis (Sku).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Electrical In-Line Metrology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 Four-Point Probe sheet resistance (Rs), dielectric breakdown field (Ebd), gate leakage current (Jg), flatband shift (ΔVfb).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CD-SEM &amp; Defect Inspection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 Critical Dimension bias (ΔCD), defect bounding area, defect aspect ratio.</a:t>
            </a:r>
          </a:p>
        </p:txBody>
      </p:sp>
      <p:pic>
        <p:nvPicPr>
          <p:cNvPr id="5" name="Picture 4" descr="wafer_defec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41111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SEMICONDUCTOR METROLOGY DEFECT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Machine Learning Architecture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1C2"/>
                </a:solidFill>
              </a:defRPr>
            </a:pPr>
            <a:r>
              <a:t>Pipeline Architecture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1. Data Generation &amp; Imbalance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5,000 dies generated across 300mm wafer. Imbalance ratio: 64% Nominal Pass, mirroring real high-yield foundry distribution.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2. Stratified Partitioning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Split into 65% Training (3,250 dies), 15% Validation (750 dies), and 20% Held-Out Testing (1,000 dies).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3. Domain Feature Engineering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Constructed domain physics ratios:</a:t>
            </a:r>
            <a:br/>
            <a:r>
              <a:t>  • UV/VIS Reflectance Balance</a:t>
            </a:r>
            <a:br/>
            <a:r>
              <a:t>  • AFM Peak-to-Roughness Aspect (Rz / Ra)</a:t>
            </a:r>
            <a:br/>
            <a:r>
              <a:t>  • Dielectric Reliability Margin (Ebd / Jleak)</a:t>
            </a:r>
            <a:br/>
            <a:r>
              <a:t>  • Thickness-to-CD Coupling</a:t>
            </a:r>
          </a:p>
          <a:p>
            <a:pPr>
              <a:spcBef>
                <a:spcPts val="800"/>
              </a:spcBef>
              <a:defRPr b="1" sz="1200">
                <a:solidFill>
                  <a:srgbClr val="212529"/>
                </a:solidFill>
              </a:defRPr>
            </a:pPr>
            <a:r>
              <a:t>• 4. Scaler Normalization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  RobustScaler fitted strictly on training data to handle heavy-tailed particulate spikes without data leakage.</a:t>
            </a:r>
          </a:p>
        </p:txBody>
      </p:sp>
      <p:pic>
        <p:nvPicPr>
          <p:cNvPr id="5" name="Picture 4" descr="metrology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31426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SEMICONDUCTOR METROLOGY DEFECT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Model Benchmark Leaderboard &amp; Feature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1C2"/>
                </a:solidFill>
              </a:defRPr>
            </a:pPr>
            <a:r>
              <a:t>Classifier Evaluation on 1,000 Test Dies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1. Random Forest (Champion)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Accuracy: 100.0% | Macro F1: 1.0000 | ROC-AUC: 1.0000</a:t>
            </a:r>
            <a:br/>
            <a:r>
              <a:t>Best overall robustness, zero false alarms on nominal dies.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2. XGBoost Classifier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Accuracy: 100.0% | Macro F1: 1.0000 | ROC-AUC: 1.0000</a:t>
            </a:r>
            <a:br/>
            <a:r>
              <a:t>Gradient boosting captures subtle non-linear edge boundaries.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3. Support Vector Machine (RBF)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Accuracy: 100.0% | Macro F1: 1.0000 | ROC-AUC: 1.0000</a:t>
            </a:r>
            <a:br/>
            <a:r>
              <a:t>Effective hyper-plane margin separation across scaled features.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4. MLP Deep Neural Network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Accuracy: 99.9% | Macro F1: 0.9987 | ROC-AUC: 1.0000</a:t>
            </a:r>
            <a:br/>
            <a:r>
              <a:t>High representation power, slight convergence sensitivity.</a:t>
            </a:r>
          </a:p>
          <a:p>
            <a:pPr>
              <a:spcBef>
                <a:spcPts val="600"/>
              </a:spcBef>
              <a:defRPr b="1" sz="1100">
                <a:solidFill>
                  <a:srgbClr val="212529"/>
                </a:solidFill>
              </a:defRPr>
            </a:pPr>
            <a:r>
              <a:t>5. Logistic Regression Baseline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  Accuracy: 100.0% | Macro F1: 1.0000 | ROC-AUC: 1.0000</a:t>
            </a:r>
            <a:br/>
            <a:r>
              <a:t>Linear separation baseline confirms feature quality.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212080" cy="31061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</a:defRPr>
            </a:pPr>
            <a:r>
              <a:t>SEMICONDUCTOR METROLOGY DEFECT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3"/>
                </a:solidFill>
              </a:defRPr>
            </a:pPr>
            <a:r>
              <a:t>Conclusions, 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1C2"/>
                </a:solidFill>
              </a:defRPr>
            </a:pPr>
            <a:r>
              <a:t>Key Takeaways from CeNSE Framework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Multi-Modal Metrology Synergy: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No single instrument can identify all defects. Optical (Ellipsometry) catches film thickness drift, AFM distinguishes bumps from scratch grooves, and Four-Point Probes confirm electrical continuity.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Physical Interpretability: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Feature importance rankings correlate directly with physical fab mechanisms (Film thickness = 10.0%, Phase delta = 8.3%, Skewness = 7.7%).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Real-Time Execution Speed: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Inference runs in under 2 milliseconds per die, making it suitable for live inline tool alarms before whole lots are lost.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1C2"/>
                </a:solidFill>
              </a:defRPr>
            </a:pPr>
            <a:r>
              <a:t>Future Work &amp; Fab Integration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Edge AI Tool Controllers: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Deploy lightweight quantized tree models directly onto RIE etcher and PECVD cluster controllers for immediate recipe shutoff.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Wafer-Map Spatial CNNs: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Extend tabular metrology with 2D Convolutional Neural Networks on full wafer inspection maps (KLA-Tencor style WMDP).</a:t>
            </a:r>
          </a:p>
          <a:p>
            <a:pPr>
              <a:spcBef>
                <a:spcPts val="1000"/>
              </a:spcBef>
              <a:defRPr b="1" sz="1200">
                <a:solidFill>
                  <a:srgbClr val="212529"/>
                </a:solidFill>
              </a:defRPr>
            </a:pPr>
            <a:r>
              <a:t>- Active Cleanroom Transfer: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  Validate simulated models against physical CeNSE MNCF characterization datasets from real silicon test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