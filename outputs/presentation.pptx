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MACHINE LEARNING-BASED DEFECT CLASSIFICATION</a:t>
            </a:r>
          </a:p>
          <a:p>
            <a:pPr>
              <a:spcBef>
                <a:spcPts val="1200"/>
              </a:spcBef>
              <a:defRPr sz="1800">
                <a:solidFill>
                  <a:srgbClr val="00A896"/>
                </a:solidFill>
              </a:defRPr>
            </a:pPr>
            <a:r>
              <a:t>Using Simulated Metrology Data for Semiconductor Quality &amp; Yield Assurance</a:t>
            </a:r>
          </a:p>
          <a:p>
            <a:pPr>
              <a:spcBef>
                <a:spcPts val="800"/>
              </a:spcBef>
              <a:defRPr sz="1400">
                <a:solidFill>
                  <a:srgbClr val="CED4DA"/>
                </a:solidFill>
              </a:defRPr>
            </a:pPr>
            <a:r>
              <a:t>Bridging Cleanroom Fabrication (CeNSE, IISc) with Intelligent Metrology Modeling</a:t>
            </a:r>
          </a:p>
          <a:p>
            <a:pPr>
              <a:spcBef>
                <a:spcPts val="2800"/>
              </a:spcBef>
              <a:defRPr sz="1200">
                <a:solidFill>
                  <a:srgbClr val="ADB5BD"/>
                </a:solidFill>
              </a:defRPr>
            </a:pPr>
            <a:r>
              <a:t>Key Focus Areas: Ellipsometry • AFM Surface Topography • 4-Point Probe • Multi-Model Classifier Zoo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A896"/>
                </a:solidFill>
              </a:defRPr>
            </a:pPr>
            <a:r>
              <a:t>SEMICONDUCTOR METROLOGY DEFECT CLASSIFICATION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2043"/>
                </a:solidFill>
              </a:defRPr>
            </a:pPr>
            <a:r>
              <a:t>Problem Statement: Automated In-Line Fab Defect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3035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971C2"/>
                </a:solidFill>
              </a:defRPr>
            </a:pPr>
            <a:r>
              <a:t>Why Automated Metrology Classification is Critical</a:t>
            </a:r>
          </a:p>
          <a:p>
            <a:pPr>
              <a:spcBef>
                <a:spcPts val="1000"/>
              </a:spcBef>
              <a:defRPr b="1" sz="1200">
                <a:solidFill>
                  <a:srgbClr val="212529"/>
                </a:solidFill>
              </a:defRPr>
            </a:pPr>
            <a:r>
              <a:t>• Cleanroom Excursion Costs:</a:t>
            </a:r>
          </a:p>
          <a:p>
            <a:pPr>
              <a:defRPr sz="1100">
                <a:solidFill>
                  <a:srgbClr val="6C757D"/>
                </a:solidFill>
              </a:defRPr>
            </a:pPr>
            <a:r>
              <a:t>  Process drift in thin-film deposition, lithography, or plasma etching ruins entire wafer lots if not caught early.</a:t>
            </a:r>
          </a:p>
          <a:p>
            <a:pPr>
              <a:spcBef>
                <a:spcPts val="1000"/>
              </a:spcBef>
              <a:defRPr b="1" sz="1200">
                <a:solidFill>
                  <a:srgbClr val="212529"/>
                </a:solidFill>
              </a:defRPr>
            </a:pPr>
            <a:r>
              <a:t>• Manual FA Bottleneck:</a:t>
            </a:r>
          </a:p>
          <a:p>
            <a:pPr>
              <a:defRPr sz="1100">
                <a:solidFill>
                  <a:srgbClr val="6C757D"/>
                </a:solidFill>
              </a:defRPr>
            </a:pPr>
            <a:r>
              <a:t>  Cross-sectional SEM / TEM failure analysis is destructive, expensive, and takes days to execute.</a:t>
            </a:r>
          </a:p>
          <a:p>
            <a:pPr>
              <a:spcBef>
                <a:spcPts val="1000"/>
              </a:spcBef>
              <a:defRPr b="1" sz="1200">
                <a:solidFill>
                  <a:srgbClr val="212529"/>
                </a:solidFill>
              </a:defRPr>
            </a:pPr>
            <a:r>
              <a:t>• Multi-Modal Opportunity:</a:t>
            </a:r>
          </a:p>
          <a:p>
            <a:pPr>
              <a:defRPr sz="1100">
                <a:solidFill>
                  <a:srgbClr val="6C757D"/>
                </a:solidFill>
              </a:defRPr>
            </a:pPr>
            <a:r>
              <a:t>  Fab metrology tools (Ellipsometer, AFM, 4-Point Probe) capture rich non-destructive physical signatures.</a:t>
            </a:r>
          </a:p>
          <a:p>
            <a:pPr>
              <a:spcBef>
                <a:spcPts val="1000"/>
              </a:spcBef>
              <a:defRPr b="1" sz="1200">
                <a:solidFill>
                  <a:srgbClr val="212529"/>
                </a:solidFill>
              </a:defRPr>
            </a:pPr>
            <a:r>
              <a:t>• Project Objective:</a:t>
            </a:r>
          </a:p>
          <a:p>
            <a:pPr>
              <a:defRPr sz="1100">
                <a:solidFill>
                  <a:srgbClr val="6C757D"/>
                </a:solidFill>
              </a:defRPr>
            </a:pPr>
            <a:r>
              <a:t>  Build an ML classification engine that ingests multi-modal metrology data to diagnose fab failure root causes instantly.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371600"/>
            <a:ext cx="51206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971C2"/>
                </a:solidFill>
              </a:defRPr>
            </a:pPr>
            <a:r>
              <a:t>Target Semiconductor Defect Taxonomies</a:t>
            </a:r>
          </a:p>
          <a:p>
            <a:pPr>
              <a:spcBef>
                <a:spcPts val="600"/>
              </a:spcBef>
              <a:defRPr b="1" sz="1100">
                <a:solidFill>
                  <a:srgbClr val="212529"/>
                </a:solidFill>
              </a:defRPr>
            </a:pPr>
            <a:r>
              <a:t>✔ 0. Nominal Pass</a:t>
            </a:r>
          </a:p>
          <a:p>
            <a:pPr>
              <a:defRPr sz="1000">
                <a:solidFill>
                  <a:srgbClr val="6C757D"/>
                </a:solidFill>
              </a:defRPr>
            </a:pPr>
            <a:r>
              <a:t>   Baseline die within statistical process control limits.</a:t>
            </a:r>
          </a:p>
          <a:p>
            <a:pPr>
              <a:spcBef>
                <a:spcPts val="600"/>
              </a:spcBef>
              <a:defRPr b="1" sz="1100">
                <a:solidFill>
                  <a:srgbClr val="212529"/>
                </a:solidFill>
              </a:defRPr>
            </a:pPr>
            <a:r>
              <a:t>✔ 1. Under-Etch</a:t>
            </a:r>
          </a:p>
          <a:p>
            <a:pPr>
              <a:defRPr sz="1000">
                <a:solidFill>
                  <a:srgbClr val="6C757D"/>
                </a:solidFill>
              </a:defRPr>
            </a:pPr>
            <a:r>
              <a:t>   Incomplete plasma etch; residual film thickness offset.</a:t>
            </a:r>
          </a:p>
          <a:p>
            <a:pPr>
              <a:spcBef>
                <a:spcPts val="600"/>
              </a:spcBef>
              <a:defRPr b="1" sz="1100">
                <a:solidFill>
                  <a:srgbClr val="212529"/>
                </a:solidFill>
              </a:defRPr>
            </a:pPr>
            <a:r>
              <a:t>✔ 2. Over-Etch</a:t>
            </a:r>
          </a:p>
          <a:p>
            <a:pPr>
              <a:defRPr sz="1000">
                <a:solidFill>
                  <a:srgbClr val="6C757D"/>
                </a:solidFill>
              </a:defRPr>
            </a:pPr>
            <a:r>
              <a:t>   Excessive RF power; substrate pitting damage &amp; thinning.</a:t>
            </a:r>
          </a:p>
          <a:p>
            <a:pPr>
              <a:spcBef>
                <a:spcPts val="600"/>
              </a:spcBef>
              <a:defRPr b="1" sz="1100">
                <a:solidFill>
                  <a:srgbClr val="212529"/>
                </a:solidFill>
              </a:defRPr>
            </a:pPr>
            <a:r>
              <a:t>✔ 3. Particulate Contamination</a:t>
            </a:r>
          </a:p>
          <a:p>
            <a:pPr>
              <a:defRPr sz="1000">
                <a:solidFill>
                  <a:srgbClr val="6C757D"/>
                </a:solidFill>
              </a:defRPr>
            </a:pPr>
            <a:r>
              <a:t>   Cleanroom dust / chamber flaking; extreme AFM Rz spikes.</a:t>
            </a:r>
          </a:p>
          <a:p>
            <a:pPr>
              <a:spcBef>
                <a:spcPts val="600"/>
              </a:spcBef>
              <a:defRPr b="1" sz="1100">
                <a:solidFill>
                  <a:srgbClr val="212529"/>
                </a:solidFill>
              </a:defRPr>
            </a:pPr>
            <a:r>
              <a:t>✔ 4. Litho Defocus / Bridging</a:t>
            </a:r>
          </a:p>
          <a:p>
            <a:pPr>
              <a:defRPr sz="1000">
                <a:solidFill>
                  <a:srgbClr val="6C757D"/>
                </a:solidFill>
              </a:defRPr>
            </a:pPr>
            <a:r>
              <a:t>   Stepper optical focal drift; CD expansion &amp; line micro-bridging.</a:t>
            </a:r>
          </a:p>
          <a:p>
            <a:pPr>
              <a:spcBef>
                <a:spcPts val="600"/>
              </a:spcBef>
              <a:defRPr b="1" sz="1100">
                <a:solidFill>
                  <a:srgbClr val="212529"/>
                </a:solidFill>
              </a:defRPr>
            </a:pPr>
            <a:r>
              <a:t>✔ 5. CMP Microscratch / Void</a:t>
            </a:r>
          </a:p>
          <a:p>
            <a:pPr>
              <a:defRPr sz="1000">
                <a:solidFill>
                  <a:srgbClr val="6C757D"/>
                </a:solidFill>
              </a:defRPr>
            </a:pPr>
            <a:r>
              <a:t>   Slurry particle gouging; severe negative surface skewness.</a:t>
            </a:r>
          </a:p>
          <a:p>
            <a:pPr>
              <a:spcBef>
                <a:spcPts val="600"/>
              </a:spcBef>
              <a:defRPr b="1" sz="1100">
                <a:solidFill>
                  <a:srgbClr val="212529"/>
                </a:solidFill>
              </a:defRPr>
            </a:pPr>
            <a:r>
              <a:t>✔ 6. Incomplete Deposition</a:t>
            </a:r>
          </a:p>
          <a:p>
            <a:pPr>
              <a:defRPr sz="1000">
                <a:solidFill>
                  <a:srgbClr val="6C757D"/>
                </a:solidFill>
              </a:defRPr>
            </a:pPr>
            <a:r>
              <a:t>   Precursor starvation / non-uniformity; sub-target thickness &amp; high 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A896"/>
                </a:solidFill>
              </a:defRPr>
            </a:pPr>
            <a:r>
              <a:t>SEMICONDUCTOR METROLOGY DEFECT CLASSIFICATION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2043"/>
                </a:solidFill>
              </a:defRPr>
            </a:pPr>
            <a:r>
              <a:t>Physics-Informed Metrology Simulation &amp; Wafer Geometry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1206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971C2"/>
                </a:solidFill>
              </a:defRPr>
            </a:pPr>
            <a:r>
              <a:t>Characterization Modalities Modeled (CeNSE MNCF)</a:t>
            </a:r>
          </a:p>
          <a:p>
            <a:pPr>
              <a:spcBef>
                <a:spcPts val="800"/>
              </a:spcBef>
              <a:defRPr b="1" sz="1200">
                <a:solidFill>
                  <a:srgbClr val="212529"/>
                </a:solidFill>
              </a:defRPr>
            </a:pPr>
            <a:r>
              <a:t>🔹 Spectroscopic Ellipsometry</a:t>
            </a:r>
          </a:p>
          <a:p>
            <a:pPr>
              <a:defRPr sz="1050">
                <a:solidFill>
                  <a:srgbClr val="6C757D"/>
                </a:solidFill>
              </a:defRPr>
            </a:pPr>
            <a:r>
              <a:t>   Film thickness (t), refractive index (n), extinction coefficient (k), optical phase shift (Δ), UV/VIS reflectance balance.</a:t>
            </a:r>
          </a:p>
          <a:p>
            <a:pPr>
              <a:spcBef>
                <a:spcPts val="800"/>
              </a:spcBef>
              <a:defRPr b="1" sz="1200">
                <a:solidFill>
                  <a:srgbClr val="212529"/>
                </a:solidFill>
              </a:defRPr>
            </a:pPr>
            <a:r>
              <a:t>🔹 AFM Surface Topography</a:t>
            </a:r>
          </a:p>
          <a:p>
            <a:pPr>
              <a:defRPr sz="1050">
                <a:solidFill>
                  <a:srgbClr val="6C757D"/>
                </a:solidFill>
              </a:defRPr>
            </a:pPr>
            <a:r>
              <a:t>   Surface average roughness (Ra), RMS (Rq), peak-to-valley (Rz), height skewness (Ssk), kurtosis (Sku).</a:t>
            </a:r>
          </a:p>
          <a:p>
            <a:pPr>
              <a:spcBef>
                <a:spcPts val="800"/>
              </a:spcBef>
              <a:defRPr b="1" sz="1200">
                <a:solidFill>
                  <a:srgbClr val="212529"/>
                </a:solidFill>
              </a:defRPr>
            </a:pPr>
            <a:r>
              <a:t>🔹 Electrical In-Line Metrology</a:t>
            </a:r>
          </a:p>
          <a:p>
            <a:pPr>
              <a:defRPr sz="1050">
                <a:solidFill>
                  <a:srgbClr val="6C757D"/>
                </a:solidFill>
              </a:defRPr>
            </a:pPr>
            <a:r>
              <a:t>   Four-Point Probe sheet resistance (Rs), dielectric breakdown field (Ebd), gate leakage current (Jg), flatband shift (ΔVfb).</a:t>
            </a:r>
          </a:p>
          <a:p>
            <a:pPr>
              <a:spcBef>
                <a:spcPts val="800"/>
              </a:spcBef>
              <a:defRPr b="1" sz="1200">
                <a:solidFill>
                  <a:srgbClr val="212529"/>
                </a:solidFill>
              </a:defRPr>
            </a:pPr>
            <a:r>
              <a:t>🔹 CD-SEM &amp; Defect Inspection</a:t>
            </a:r>
          </a:p>
          <a:p>
            <a:pPr>
              <a:defRPr sz="1050">
                <a:solidFill>
                  <a:srgbClr val="6C757D"/>
                </a:solidFill>
              </a:defRPr>
            </a:pPr>
            <a:r>
              <a:t>   Critical Dimension bias (ΔCD), defect bounding area, defect aspect ratio.</a:t>
            </a:r>
          </a:p>
        </p:txBody>
      </p:sp>
      <p:pic>
        <p:nvPicPr>
          <p:cNvPr id="5" name="Picture 4" descr="wafer_defect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280160"/>
            <a:ext cx="5212080" cy="411116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A896"/>
                </a:solidFill>
              </a:defRPr>
            </a:pPr>
            <a:r>
              <a:t>SEMICONDUCTOR METROLOGY DEFECT CLASSIFICATION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2043"/>
                </a:solidFill>
              </a:defRPr>
            </a:pPr>
            <a:r>
              <a:t>Machine Learning Architecture &amp; Feature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3035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971C2"/>
                </a:solidFill>
              </a:defRPr>
            </a:pPr>
            <a:r>
              <a:t>Pipeline Architecture</a:t>
            </a:r>
          </a:p>
          <a:p>
            <a:pPr>
              <a:spcBef>
                <a:spcPts val="800"/>
              </a:spcBef>
              <a:defRPr b="1" sz="1200">
                <a:solidFill>
                  <a:srgbClr val="212529"/>
                </a:solidFill>
              </a:defRPr>
            </a:pPr>
            <a:r>
              <a:t>• 1. Data Generation &amp; Imbalance</a:t>
            </a:r>
          </a:p>
          <a:p>
            <a:pPr>
              <a:defRPr sz="1050">
                <a:solidFill>
                  <a:srgbClr val="6C757D"/>
                </a:solidFill>
              </a:defRPr>
            </a:pPr>
            <a:r>
              <a:t>  5,000 dies generated across 300mm wafer. Imbalance ratio: 64% Nominal Pass, mirroring real high-yield foundry distribution.</a:t>
            </a:r>
          </a:p>
          <a:p>
            <a:pPr>
              <a:spcBef>
                <a:spcPts val="800"/>
              </a:spcBef>
              <a:defRPr b="1" sz="1200">
                <a:solidFill>
                  <a:srgbClr val="212529"/>
                </a:solidFill>
              </a:defRPr>
            </a:pPr>
            <a:r>
              <a:t>• 2. Stratified Partitioning</a:t>
            </a:r>
          </a:p>
          <a:p>
            <a:pPr>
              <a:defRPr sz="1050">
                <a:solidFill>
                  <a:srgbClr val="6C757D"/>
                </a:solidFill>
              </a:defRPr>
            </a:pPr>
            <a:r>
              <a:t>  Split into 65% Training (3,250 dies), 15% Validation (750 dies), and 20% Held-Out Testing (1,000 dies).</a:t>
            </a:r>
          </a:p>
          <a:p>
            <a:pPr>
              <a:spcBef>
                <a:spcPts val="800"/>
              </a:spcBef>
              <a:defRPr b="1" sz="1200">
                <a:solidFill>
                  <a:srgbClr val="212529"/>
                </a:solidFill>
              </a:defRPr>
            </a:pPr>
            <a:r>
              <a:t>• 3. Domain Feature Engineering</a:t>
            </a:r>
          </a:p>
          <a:p>
            <a:pPr>
              <a:defRPr sz="1050">
                <a:solidFill>
                  <a:srgbClr val="6C757D"/>
                </a:solidFill>
              </a:defRPr>
            </a:pPr>
            <a:r>
              <a:t>  Constructed domain physics ratios:</a:t>
            </a:r>
            <a:br/>
            <a:r>
              <a:t>  • UV/VIS Reflectance Balance</a:t>
            </a:r>
            <a:br/>
            <a:r>
              <a:t>  • AFM Peak-to-Roughness Aspect (Rz / Ra)</a:t>
            </a:r>
            <a:br/>
            <a:r>
              <a:t>  • Dielectric Reliability Margin (Ebd / Jleak)</a:t>
            </a:r>
            <a:br/>
            <a:r>
              <a:t>  • Thickness-to-CD Coupling</a:t>
            </a:r>
          </a:p>
          <a:p>
            <a:pPr>
              <a:spcBef>
                <a:spcPts val="800"/>
              </a:spcBef>
              <a:defRPr b="1" sz="1200">
                <a:solidFill>
                  <a:srgbClr val="212529"/>
                </a:solidFill>
              </a:defRPr>
            </a:pPr>
            <a:r>
              <a:t>• 4. Scaler Normalization</a:t>
            </a:r>
          </a:p>
          <a:p>
            <a:pPr>
              <a:defRPr sz="1050">
                <a:solidFill>
                  <a:srgbClr val="6C757D"/>
                </a:solidFill>
              </a:defRPr>
            </a:pPr>
            <a:r>
              <a:t>  RobustScaler fitted strictly on training data to handle heavy-tailed particulate spikes without data leakage.</a:t>
            </a:r>
          </a:p>
        </p:txBody>
      </p:sp>
      <p:pic>
        <p:nvPicPr>
          <p:cNvPr id="5" name="Picture 4" descr="metrology_feature_distribu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371600"/>
            <a:ext cx="5212080" cy="314268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A896"/>
                </a:solidFill>
              </a:defRPr>
            </a:pPr>
            <a:r>
              <a:t>SEMICONDUCTOR METROLOGY DEFECT CLASSIFICATION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2043"/>
                </a:solidFill>
              </a:defRPr>
            </a:pPr>
            <a:r>
              <a:t>Model Benchmark Leaderboard &amp; Feature Explainability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971C2"/>
                </a:solidFill>
              </a:defRPr>
            </a:pPr>
            <a:r>
              <a:t>Classifier Evaluation on 1,000 Test Dies</a:t>
            </a:r>
          </a:p>
          <a:p>
            <a:pPr>
              <a:spcBef>
                <a:spcPts val="600"/>
              </a:spcBef>
              <a:defRPr b="1" sz="1100">
                <a:solidFill>
                  <a:srgbClr val="212529"/>
                </a:solidFill>
              </a:defRPr>
            </a:pPr>
            <a:r>
              <a:t>🏆 Random Forest (Champion)</a:t>
            </a:r>
          </a:p>
          <a:p>
            <a:pPr>
              <a:defRPr sz="1000">
                <a:solidFill>
                  <a:srgbClr val="6C757D"/>
                </a:solidFill>
              </a:defRPr>
            </a:pPr>
            <a:r>
              <a:t>  Accuracy: 100.0% | Macro F1: 1.0000 | ROC-AUC: 1.0000</a:t>
            </a:r>
            <a:br/>
            <a:r>
              <a:t>Best overall robustness, zero false alarms on nominal dies.</a:t>
            </a:r>
          </a:p>
          <a:p>
            <a:pPr>
              <a:spcBef>
                <a:spcPts val="600"/>
              </a:spcBef>
              <a:defRPr b="1" sz="1100">
                <a:solidFill>
                  <a:srgbClr val="212529"/>
                </a:solidFill>
              </a:defRPr>
            </a:pPr>
            <a:r>
              <a:t>⚡ XGBoost Classifier</a:t>
            </a:r>
          </a:p>
          <a:p>
            <a:pPr>
              <a:defRPr sz="1000">
                <a:solidFill>
                  <a:srgbClr val="6C757D"/>
                </a:solidFill>
              </a:defRPr>
            </a:pPr>
            <a:r>
              <a:t>  Accuracy: 100.0% | Macro F1: 1.0000 | ROC-AUC: 1.0000</a:t>
            </a:r>
            <a:br/>
            <a:r>
              <a:t>Gradient boosting captures subtle non-linear edge boundaries.</a:t>
            </a:r>
          </a:p>
          <a:p>
            <a:pPr>
              <a:spcBef>
                <a:spcPts val="600"/>
              </a:spcBef>
              <a:defRPr b="1" sz="1100">
                <a:solidFill>
                  <a:srgbClr val="212529"/>
                </a:solidFill>
              </a:defRPr>
            </a:pPr>
            <a:r>
              <a:t>🛡️ Support Vector Machine (RBF)</a:t>
            </a:r>
          </a:p>
          <a:p>
            <a:pPr>
              <a:defRPr sz="1000">
                <a:solidFill>
                  <a:srgbClr val="6C757D"/>
                </a:solidFill>
              </a:defRPr>
            </a:pPr>
            <a:r>
              <a:t>  Accuracy: 100.0% | Macro F1: 1.0000 | ROC-AUC: 1.0000</a:t>
            </a:r>
            <a:br/>
            <a:r>
              <a:t>Effective hyper-plane margin separation across scaled features.</a:t>
            </a:r>
          </a:p>
          <a:p>
            <a:pPr>
              <a:spcBef>
                <a:spcPts val="600"/>
              </a:spcBef>
              <a:defRPr b="1" sz="1100">
                <a:solidFill>
                  <a:srgbClr val="212529"/>
                </a:solidFill>
              </a:defRPr>
            </a:pPr>
            <a:r>
              <a:t>🧠 MLP Deep Neural Network</a:t>
            </a:r>
          </a:p>
          <a:p>
            <a:pPr>
              <a:defRPr sz="1000">
                <a:solidFill>
                  <a:srgbClr val="6C757D"/>
                </a:solidFill>
              </a:defRPr>
            </a:pPr>
            <a:r>
              <a:t>  Accuracy: 99.9% | Macro F1: 0.9987 | ROC-AUC: 1.0000</a:t>
            </a:r>
            <a:br/>
            <a:r>
              <a:t>High representation power, slight convergence sensitivity.</a:t>
            </a:r>
          </a:p>
          <a:p>
            <a:pPr>
              <a:spcBef>
                <a:spcPts val="600"/>
              </a:spcBef>
              <a:defRPr b="1" sz="1100">
                <a:solidFill>
                  <a:srgbClr val="212529"/>
                </a:solidFill>
              </a:defRPr>
            </a:pPr>
            <a:r>
              <a:t>📊 Calibrated Baseline (LogReg)</a:t>
            </a:r>
          </a:p>
          <a:p>
            <a:pPr>
              <a:defRPr sz="1000">
                <a:solidFill>
                  <a:srgbClr val="6C757D"/>
                </a:solidFill>
              </a:defRPr>
            </a:pPr>
            <a:r>
              <a:t>  Accuracy: 100.0% | Macro F1: 1.0000 | ROC-AUC: 1.0000</a:t>
            </a:r>
            <a:br/>
            <a:r>
              <a:t>Linear separation baseline confirms feature quality.</a:t>
            </a:r>
          </a:p>
        </p:txBody>
      </p:sp>
      <p:pic>
        <p:nvPicPr>
          <p:cNvPr id="5" name="Picture 4" descr="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280160"/>
            <a:ext cx="5212080" cy="310618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A896"/>
                </a:solidFill>
              </a:defRPr>
            </a:pPr>
            <a:r>
              <a:t>SEMICONDUCTOR METROLOGY DEFECT CLASSIFICATION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2043"/>
                </a:solidFill>
              </a:defRPr>
            </a:pPr>
            <a:r>
              <a:t>Conclusions, Impact &amp;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3035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971C2"/>
                </a:solidFill>
              </a:defRPr>
            </a:pPr>
            <a:r>
              <a:t>Key Takeaways from CeNSE Framework</a:t>
            </a:r>
          </a:p>
          <a:p>
            <a:pPr>
              <a:spcBef>
                <a:spcPts val="1000"/>
              </a:spcBef>
              <a:defRPr b="1" sz="1200">
                <a:solidFill>
                  <a:srgbClr val="212529"/>
                </a:solidFill>
              </a:defRPr>
            </a:pPr>
            <a:r>
              <a:t>✔ Multi-Modal Metrology Synergy:</a:t>
            </a:r>
          </a:p>
          <a:p>
            <a:pPr>
              <a:defRPr sz="1100">
                <a:solidFill>
                  <a:srgbClr val="6C757D"/>
                </a:solidFill>
              </a:defRPr>
            </a:pPr>
            <a:r>
              <a:t>  No single instrument can identify all defects. Optical (Ellipsometry) catches film thickness drift, AFM distinguishes bumps from scratch grooves, and Four-Point Probes confirm electrical continuity.</a:t>
            </a:r>
          </a:p>
          <a:p>
            <a:pPr>
              <a:spcBef>
                <a:spcPts val="1000"/>
              </a:spcBef>
              <a:defRPr b="1" sz="1200">
                <a:solidFill>
                  <a:srgbClr val="212529"/>
                </a:solidFill>
              </a:defRPr>
            </a:pPr>
            <a:r>
              <a:t>✔ Physical Interpretability:</a:t>
            </a:r>
          </a:p>
          <a:p>
            <a:pPr>
              <a:defRPr sz="1100">
                <a:solidFill>
                  <a:srgbClr val="6C757D"/>
                </a:solidFill>
              </a:defRPr>
            </a:pPr>
            <a:r>
              <a:t>  Feature importance rankings correlate directly with physical fab mechanisms (Film thickness = 10.0%, Phase delta = 8.3%, Skewness = 7.7%).</a:t>
            </a:r>
          </a:p>
          <a:p>
            <a:pPr>
              <a:spcBef>
                <a:spcPts val="1000"/>
              </a:spcBef>
              <a:defRPr b="1" sz="1200">
                <a:solidFill>
                  <a:srgbClr val="212529"/>
                </a:solidFill>
              </a:defRPr>
            </a:pPr>
            <a:r>
              <a:t>✔ Real-Time Execution Speed:</a:t>
            </a:r>
          </a:p>
          <a:p>
            <a:pPr>
              <a:defRPr sz="1100">
                <a:solidFill>
                  <a:srgbClr val="6C757D"/>
                </a:solidFill>
              </a:defRPr>
            </a:pPr>
            <a:r>
              <a:t>  Inference runs in under 2 milliseconds per die, making it suitable for live inline tool alarms before whole lots are lost.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371600"/>
            <a:ext cx="51206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971C2"/>
                </a:solidFill>
              </a:defRPr>
            </a:pPr>
            <a:r>
              <a:t>Future Work &amp; Fab Integration</a:t>
            </a:r>
          </a:p>
          <a:p>
            <a:pPr>
              <a:spcBef>
                <a:spcPts val="1000"/>
              </a:spcBef>
              <a:defRPr b="1" sz="1200">
                <a:solidFill>
                  <a:srgbClr val="212529"/>
                </a:solidFill>
              </a:defRPr>
            </a:pPr>
            <a:r>
              <a:t>🚀 Edge AI Tool Controllers:</a:t>
            </a:r>
          </a:p>
          <a:p>
            <a:pPr>
              <a:defRPr sz="1100">
                <a:solidFill>
                  <a:srgbClr val="6C757D"/>
                </a:solidFill>
              </a:defRPr>
            </a:pPr>
            <a:r>
              <a:t>  Deploy lightweight quantized tree models directly onto RIE etcher and PECVD cluster controllers for immediate recipe shutoff.</a:t>
            </a:r>
          </a:p>
          <a:p>
            <a:pPr>
              <a:spcBef>
                <a:spcPts val="1000"/>
              </a:spcBef>
              <a:defRPr b="1" sz="1200">
                <a:solidFill>
                  <a:srgbClr val="212529"/>
                </a:solidFill>
              </a:defRPr>
            </a:pPr>
            <a:r>
              <a:t>🚀 Wafer-Map Spatial CNNs:</a:t>
            </a:r>
          </a:p>
          <a:p>
            <a:pPr>
              <a:defRPr sz="1100">
                <a:solidFill>
                  <a:srgbClr val="6C757D"/>
                </a:solidFill>
              </a:defRPr>
            </a:pPr>
            <a:r>
              <a:t>  Extend tabular metrology with 2D Convolutional Neural Networks on full wafer inspection maps (KLA-Tencor style WMDP).</a:t>
            </a:r>
          </a:p>
          <a:p>
            <a:pPr>
              <a:spcBef>
                <a:spcPts val="1000"/>
              </a:spcBef>
              <a:defRPr b="1" sz="1200">
                <a:solidFill>
                  <a:srgbClr val="212529"/>
                </a:solidFill>
              </a:defRPr>
            </a:pPr>
            <a:r>
              <a:t>🚀 Active Cleanroom Transfer:</a:t>
            </a:r>
          </a:p>
          <a:p>
            <a:pPr>
              <a:defRPr sz="1100">
                <a:solidFill>
                  <a:srgbClr val="6C757D"/>
                </a:solidFill>
              </a:defRPr>
            </a:pPr>
            <a:r>
              <a:t>  Validate simulated models against physical CeNSE MNCF characterization datasets from real silicon test runs.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